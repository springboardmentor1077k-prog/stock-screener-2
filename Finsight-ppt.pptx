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grandir" panose="020B0604020202020204" charset="0"/>
      <p:regular r:id="rId17"/>
    </p:embeddedFont>
    <p:embeddedFont>
      <p:font typeface="Agrandir Bold" panose="020B0604020202020204" charset="0"/>
      <p:regular r:id="rId18"/>
    </p:embeddedFont>
    <p:embeddedFont>
      <p:font typeface="Agrandir Bold Italics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26129" y="2314575"/>
            <a:ext cx="5657850" cy="56578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83979" y="2314575"/>
            <a:ext cx="5657850" cy="56578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930566" y="3153306"/>
            <a:ext cx="6426867" cy="235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74"/>
              </a:lnSpc>
              <a:spcBef>
                <a:spcPct val="0"/>
              </a:spcBef>
            </a:pPr>
            <a:r>
              <a:rPr lang="en-US" sz="1183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FinSight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4113" y="4581525"/>
            <a:ext cx="8619774" cy="235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74"/>
              </a:lnSpc>
              <a:spcBef>
                <a:spcPct val="0"/>
              </a:spcBef>
            </a:pPr>
            <a:r>
              <a:rPr lang="en-US" sz="11838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615632"/>
            <a:ext cx="2819892" cy="46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sz="2402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Presented by: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0617" y="6653207"/>
            <a:ext cx="10401212" cy="45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  <a:spcBef>
                <a:spcPct val="0"/>
              </a:spcBef>
            </a:pPr>
            <a:r>
              <a:rPr lang="en-US" sz="2302" b="1">
                <a:solidFill>
                  <a:srgbClr val="B0E1F5"/>
                </a:solidFill>
                <a:latin typeface="Agrandir Bold"/>
                <a:ea typeface="Agrandir Bold"/>
                <a:cs typeface="Agrandir Bold"/>
                <a:sym typeface="Agrandir Bold"/>
              </a:rPr>
              <a:t>AI-POWERED FINANCIAL SCREENER INTEGRATION &amp;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6423" y="1733550"/>
            <a:ext cx="6819900" cy="68199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54018" y="2840929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54018" y="3512595"/>
            <a:ext cx="4305357" cy="162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339"/>
              </a:lnSpc>
              <a:spcBef>
                <a:spcPct val="0"/>
              </a:spcBef>
            </a:pPr>
            <a:r>
              <a:rPr lang="en-US" sz="80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54018" y="4445302"/>
            <a:ext cx="6363098" cy="162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339"/>
              </a:lnSpc>
              <a:spcBef>
                <a:spcPct val="0"/>
              </a:spcBef>
            </a:pPr>
            <a:r>
              <a:rPr lang="en-US" sz="80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03959" y="2783779"/>
            <a:ext cx="9188077" cy="656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256" lvl="1" indent="-270128" algn="just">
              <a:lnSpc>
                <a:spcPts val="3503"/>
              </a:lnSpc>
              <a:buFont typeface="Arial"/>
              <a:buChar char="•"/>
            </a:pPr>
            <a:r>
              <a:rPr lang="en-US" sz="25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Complexity of Market Data:</a:t>
            </a:r>
            <a:r>
              <a:rPr lang="en-US" sz="25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With over 5000+ listed companies, manual stock screening is highly complex and time-consuming for retail investors.</a:t>
            </a:r>
          </a:p>
          <a:p>
            <a:pPr algn="just">
              <a:lnSpc>
                <a:spcPts val="3503"/>
              </a:lnSpc>
            </a:pPr>
            <a:endParaRPr lang="en-US" sz="25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0256" lvl="1" indent="-270128" algn="just">
              <a:lnSpc>
                <a:spcPts val="3503"/>
              </a:lnSpc>
              <a:buFont typeface="Arial"/>
              <a:buChar char="•"/>
            </a:pPr>
            <a:r>
              <a:rPr lang="en-US" sz="25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Knowledge Gap: </a:t>
            </a:r>
            <a:r>
              <a:rPr lang="en-US" sz="25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Retail investors often lack the deep financial terminology (like EBITDA, Debt-to-Equity) required to navigate traditional screeners.</a:t>
            </a:r>
          </a:p>
          <a:p>
            <a:pPr algn="just">
              <a:lnSpc>
                <a:spcPts val="3503"/>
              </a:lnSpc>
            </a:pPr>
            <a:endParaRPr lang="en-US" sz="25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0256" lvl="1" indent="-270128" algn="just">
              <a:lnSpc>
                <a:spcPts val="3503"/>
              </a:lnSpc>
              <a:buFont typeface="Arial"/>
              <a:buChar char="•"/>
            </a:pPr>
            <a:r>
              <a:rPr lang="en-US" sz="25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Rigid UI Limitations:</a:t>
            </a:r>
            <a:r>
              <a:rPr lang="en-US" sz="25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Existing tools rely on rigid, complex drop-down menus that limit intuitive and fast searching.</a:t>
            </a:r>
          </a:p>
          <a:p>
            <a:pPr algn="just">
              <a:lnSpc>
                <a:spcPts val="3503"/>
              </a:lnSpc>
            </a:pPr>
            <a:endParaRPr lang="en-US" sz="25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0256" lvl="1" indent="-270128" algn="just">
              <a:lnSpc>
                <a:spcPts val="3503"/>
              </a:lnSpc>
              <a:buFont typeface="Arial"/>
              <a:buChar char="•"/>
            </a:pPr>
            <a:r>
              <a:rPr lang="en-US" sz="25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Matters: </a:t>
            </a:r>
            <a:r>
              <a:rPr lang="en-US" sz="25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Users need a simplified, conversational way to query financial data without a steep learning curve.</a:t>
            </a:r>
          </a:p>
          <a:p>
            <a:pPr algn="just">
              <a:lnSpc>
                <a:spcPts val="3503"/>
              </a:lnSpc>
              <a:spcBef>
                <a:spcPct val="0"/>
              </a:spcBef>
            </a:pPr>
            <a:endParaRPr lang="en-US" sz="25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878050" y="-1057574"/>
            <a:ext cx="6819900" cy="68199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0209" y="473667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1"/>
                </a:lnTo>
                <a:lnTo>
                  <a:pt x="0" y="715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45999" y="3681126"/>
            <a:ext cx="8227956" cy="5127913"/>
          </a:xfrm>
          <a:custGeom>
            <a:avLst/>
            <a:gdLst/>
            <a:ahLst/>
            <a:cxnLst/>
            <a:rect l="l" t="t" r="r" b="b"/>
            <a:pathLst>
              <a:path w="8227956" h="5127913">
                <a:moveTo>
                  <a:pt x="0" y="0"/>
                </a:moveTo>
                <a:lnTo>
                  <a:pt x="8227956" y="0"/>
                </a:lnTo>
                <a:lnTo>
                  <a:pt x="8227956" y="5127913"/>
                </a:lnTo>
                <a:lnTo>
                  <a:pt x="0" y="5127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90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40209" y="1190953"/>
            <a:ext cx="3831745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0209" y="2176176"/>
            <a:ext cx="636309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4781" y="3643026"/>
            <a:ext cx="8509219" cy="651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631" lvl="1" indent="-252815" algn="just">
              <a:lnSpc>
                <a:spcPts val="3278"/>
              </a:lnSpc>
              <a:buFont typeface="Arial"/>
              <a:buChar char="•"/>
            </a:pPr>
            <a:r>
              <a:rPr lang="en-US" sz="234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System:</a:t>
            </a:r>
            <a:r>
              <a:rPr lang="en-US" sz="23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FinSight Pro is a fully integrated, AI-powered stock screener designed for simplicity and power.</a:t>
            </a:r>
          </a:p>
          <a:p>
            <a:pPr algn="just">
              <a:lnSpc>
                <a:spcPts val="3278"/>
              </a:lnSpc>
            </a:pPr>
            <a:endParaRPr lang="en-US" sz="234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05631" lvl="1" indent="-252815" algn="just">
              <a:lnSpc>
                <a:spcPts val="3278"/>
              </a:lnSpc>
              <a:buFont typeface="Arial"/>
              <a:buChar char="•"/>
            </a:pPr>
            <a:r>
              <a:rPr lang="en-US" sz="234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NLP to SQL:</a:t>
            </a:r>
            <a:r>
              <a:rPr lang="en-US" sz="23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It seamlessly translates Natural Language queries (plain English) directly into structured, executable SQL queries.</a:t>
            </a:r>
          </a:p>
          <a:p>
            <a:pPr algn="just">
              <a:lnSpc>
                <a:spcPts val="3278"/>
              </a:lnSpc>
            </a:pPr>
            <a:endParaRPr lang="en-US" sz="234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05631" lvl="1" indent="-252815" algn="just">
              <a:lnSpc>
                <a:spcPts val="3278"/>
              </a:lnSpc>
              <a:buFont typeface="Arial"/>
              <a:buChar char="•"/>
            </a:pPr>
            <a:r>
              <a:rPr lang="en-US" sz="234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Democratizing Finance: </a:t>
            </a:r>
            <a:r>
              <a:rPr lang="en-US" sz="23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Empowers users to search for stocks using conversational inputs rather than complex, intimidating filters.</a:t>
            </a:r>
          </a:p>
          <a:p>
            <a:pPr algn="just">
              <a:lnSpc>
                <a:spcPts val="3278"/>
              </a:lnSpc>
            </a:pPr>
            <a:endParaRPr lang="en-US" sz="234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05631" lvl="1" indent="-252815" algn="just">
              <a:lnSpc>
                <a:spcPts val="3278"/>
              </a:lnSpc>
              <a:buFont typeface="Arial"/>
              <a:buChar char="•"/>
            </a:pPr>
            <a:r>
              <a:rPr lang="en-US" sz="234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Ecosystem: </a:t>
            </a:r>
            <a:r>
              <a:rPr lang="en-US" sz="23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Provides a comprehensive suite including Smart Screening, Dynamic Portfolio Tracking, and Automated Alerts in one platform.</a:t>
            </a:r>
          </a:p>
          <a:p>
            <a:pPr algn="just">
              <a:lnSpc>
                <a:spcPts val="3278"/>
              </a:lnSpc>
              <a:spcBef>
                <a:spcPct val="0"/>
              </a:spcBef>
            </a:pPr>
            <a:endParaRPr lang="en-US" sz="234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6662" y="1087123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48938" y="1802763"/>
            <a:ext cx="5153712" cy="7813357"/>
          </a:xfrm>
          <a:custGeom>
            <a:avLst/>
            <a:gdLst/>
            <a:ahLst/>
            <a:cxnLst/>
            <a:rect l="l" t="t" r="r" b="b"/>
            <a:pathLst>
              <a:path w="5153712" h="7813357">
                <a:moveTo>
                  <a:pt x="0" y="0"/>
                </a:moveTo>
                <a:lnTo>
                  <a:pt x="5153712" y="0"/>
                </a:lnTo>
                <a:lnTo>
                  <a:pt x="5153712" y="7813357"/>
                </a:lnTo>
                <a:lnTo>
                  <a:pt x="0" y="78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70" r="-10287" b="-1846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78199" y="3960887"/>
            <a:ext cx="9292059" cy="57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110" lvl="1" indent="-258055" algn="l">
              <a:lnSpc>
                <a:spcPts val="2868"/>
              </a:lnSpc>
              <a:buFont typeface="Arial"/>
              <a:buChar char="•"/>
            </a:pPr>
            <a:r>
              <a:rPr lang="en-US" sz="239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(UI): </a:t>
            </a:r>
            <a:r>
              <a:rPr lang="en-US" sz="23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Built using Streamlit for a highly interactive and responsive user interface.</a:t>
            </a:r>
          </a:p>
          <a:p>
            <a:pPr algn="l">
              <a:lnSpc>
                <a:spcPts val="2868"/>
              </a:lnSpc>
            </a:pPr>
            <a:endParaRPr lang="en-US" sz="239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6110" lvl="1" indent="-258055" algn="l">
              <a:lnSpc>
                <a:spcPts val="2868"/>
              </a:lnSpc>
              <a:buFont typeface="Arial"/>
              <a:buChar char="•"/>
            </a:pPr>
            <a:r>
              <a:rPr lang="en-US" sz="23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APIs: Powered by FastAPI, ensuring asynchronous, rapid data delivery and secure routing.</a:t>
            </a:r>
          </a:p>
          <a:p>
            <a:pPr algn="l">
              <a:lnSpc>
                <a:spcPts val="2868"/>
              </a:lnSpc>
            </a:pPr>
            <a:endParaRPr lang="en-US" sz="239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6110" lvl="1" indent="-258055" algn="l">
              <a:lnSpc>
                <a:spcPts val="2868"/>
              </a:lnSpc>
              <a:buFont typeface="Arial"/>
              <a:buChar char="•"/>
            </a:pPr>
            <a:r>
              <a:rPr lang="en-US" sz="23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Core (LLM &amp; DSL Layer): Integrates Gemini LLM to parse natural language into a structured Domain Specific Language (DSL).</a:t>
            </a:r>
          </a:p>
          <a:p>
            <a:pPr algn="l">
              <a:lnSpc>
                <a:spcPts val="2868"/>
              </a:lnSpc>
            </a:pPr>
            <a:endParaRPr lang="en-US" sz="239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6110" lvl="1" indent="-258055" algn="l">
              <a:lnSpc>
                <a:spcPts val="2868"/>
              </a:lnSpc>
              <a:buFont typeface="Arial"/>
              <a:buChar char="•"/>
            </a:pPr>
            <a:r>
              <a:rPr lang="en-US" sz="23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Execution Engine: A robust SQL Compiler translates the validated DSL into secure, parameterized queries.</a:t>
            </a:r>
          </a:p>
          <a:p>
            <a:pPr algn="l">
              <a:lnSpc>
                <a:spcPts val="2868"/>
              </a:lnSpc>
            </a:pPr>
            <a:endParaRPr lang="en-US" sz="239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6110" lvl="1" indent="-258055" algn="l">
              <a:lnSpc>
                <a:spcPts val="2868"/>
              </a:lnSpc>
              <a:buFont typeface="Arial"/>
              <a:buChar char="•"/>
            </a:pPr>
            <a:r>
              <a:rPr lang="en-US" sz="23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Database: SQLite database managing multi-layered financial data (Fundamentals, Portfolios, Alerts)</a:t>
            </a:r>
          </a:p>
          <a:p>
            <a:pPr algn="l">
              <a:lnSpc>
                <a:spcPts val="2868"/>
              </a:lnSpc>
            </a:pPr>
            <a:endParaRPr lang="en-US" sz="239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96662" y="1440813"/>
            <a:ext cx="4386877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6662" y="2455937"/>
            <a:ext cx="6221775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0379" y="580098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1"/>
                </a:lnTo>
                <a:lnTo>
                  <a:pt x="0" y="715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13998" y="288120"/>
            <a:ext cx="2204354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Key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3998" y="1225073"/>
            <a:ext cx="636309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13998" y="2730023"/>
            <a:ext cx="12475968" cy="7013646"/>
            <a:chOff x="0" y="0"/>
            <a:chExt cx="3285852" cy="1847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85852" cy="1847215"/>
            </a:xfrm>
            <a:custGeom>
              <a:avLst/>
              <a:gdLst/>
              <a:ahLst/>
              <a:cxnLst/>
              <a:rect l="l" t="t" r="r" b="b"/>
              <a:pathLst>
                <a:path w="3285852" h="1847215">
                  <a:moveTo>
                    <a:pt x="29786" y="0"/>
                  </a:moveTo>
                  <a:lnTo>
                    <a:pt x="3256066" y="0"/>
                  </a:lnTo>
                  <a:cubicBezTo>
                    <a:pt x="3263965" y="0"/>
                    <a:pt x="3271541" y="3138"/>
                    <a:pt x="3277127" y="8724"/>
                  </a:cubicBezTo>
                  <a:cubicBezTo>
                    <a:pt x="3282714" y="14310"/>
                    <a:pt x="3285852" y="21886"/>
                    <a:pt x="3285852" y="29786"/>
                  </a:cubicBezTo>
                  <a:lnTo>
                    <a:pt x="3285852" y="1817429"/>
                  </a:lnTo>
                  <a:cubicBezTo>
                    <a:pt x="3285852" y="1833880"/>
                    <a:pt x="3272516" y="1847215"/>
                    <a:pt x="3256066" y="1847215"/>
                  </a:cubicBezTo>
                  <a:lnTo>
                    <a:pt x="29786" y="1847215"/>
                  </a:lnTo>
                  <a:cubicBezTo>
                    <a:pt x="13336" y="1847215"/>
                    <a:pt x="0" y="1833880"/>
                    <a:pt x="0" y="1817429"/>
                  </a:cubicBezTo>
                  <a:lnTo>
                    <a:pt x="0" y="29786"/>
                  </a:lnTo>
                  <a:cubicBezTo>
                    <a:pt x="0" y="13336"/>
                    <a:pt x="13336" y="0"/>
                    <a:pt x="29786" y="0"/>
                  </a:cubicBezTo>
                  <a:close/>
                </a:path>
              </a:pathLst>
            </a:custGeom>
            <a:ln w="104775" cap="rnd">
              <a:solidFill>
                <a:srgbClr val="5096B3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3285852" cy="1932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61299" y="2815957"/>
            <a:ext cx="11723614" cy="713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 Querying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Conversational AI interface for instant market research.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Filtering: 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Capable of growth-based and quarter-based logic filtering.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Portfolio Management: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Real-time tracking of investments with dynamic profit/loss math.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Intelligent Alert System: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Automated background monitoring for user-defined stock metrics.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Pipeline: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fully integrated, crash-resistant system spanning from UI to Database.</a:t>
            </a:r>
          </a:p>
          <a:p>
            <a:pPr algn="just">
              <a:lnSpc>
                <a:spcPts val="3783"/>
              </a:lnSpc>
              <a:spcBef>
                <a:spcPct val="0"/>
              </a:spcBef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70880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11298" y="3798889"/>
            <a:ext cx="7400555" cy="4930620"/>
          </a:xfrm>
          <a:custGeom>
            <a:avLst/>
            <a:gdLst/>
            <a:ahLst/>
            <a:cxnLst/>
            <a:rect l="l" t="t" r="r" b="b"/>
            <a:pathLst>
              <a:path w="7400555" h="4930620">
                <a:moveTo>
                  <a:pt x="0" y="0"/>
                </a:moveTo>
                <a:lnTo>
                  <a:pt x="7400555" y="0"/>
                </a:lnTo>
                <a:lnTo>
                  <a:pt x="7400555" y="4930619"/>
                </a:lnTo>
                <a:lnTo>
                  <a:pt x="0" y="493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83307"/>
            <a:ext cx="984864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DSL &amp; </a:t>
            </a: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Query Pipeline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964" y="2842966"/>
            <a:ext cx="9438329" cy="713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Pipeline Flow: 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Natural Language ➔ LLM Parser ➔ DSL ➔ Validator ➔ SQL Compiler ➔ Database Execution.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Sample Input: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"Show me IT companies with PE ratio less than 15 and zero debt".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Sample DSL (JSON):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{"conditions": [{"field": "pe_ratio", "op": "&lt;", "value": 15}, {"field": "debt", "op": "=", "value": 0}]}.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just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Sample SQL: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SELECT * FROM fundamentals WHERE pe_ratio &lt; ? AND debt = ? LIMIT 50 | Parameters: [15, 0].</a:t>
            </a:r>
          </a:p>
          <a:p>
            <a:pPr algn="just">
              <a:lnSpc>
                <a:spcPts val="3783"/>
              </a:lnSpc>
              <a:spcBef>
                <a:spcPct val="0"/>
              </a:spcBef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53666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16057" y="3663905"/>
            <a:ext cx="7101248" cy="5273514"/>
          </a:xfrm>
          <a:custGeom>
            <a:avLst/>
            <a:gdLst/>
            <a:ahLst/>
            <a:cxnLst/>
            <a:rect l="l" t="t" r="r" b="b"/>
            <a:pathLst>
              <a:path w="7101248" h="5273514">
                <a:moveTo>
                  <a:pt x="0" y="0"/>
                </a:moveTo>
                <a:lnTo>
                  <a:pt x="7101248" y="0"/>
                </a:lnTo>
                <a:lnTo>
                  <a:pt x="7101248" y="5273514"/>
                </a:lnTo>
                <a:lnTo>
                  <a:pt x="0" y="5273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88" t="-6689" r="-11838" b="-377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650133"/>
            <a:ext cx="4529100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Database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82840"/>
            <a:ext cx="636309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105" y="4040165"/>
            <a:ext cx="9898866" cy="625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732" lvl="1" indent="-274866" algn="l">
              <a:lnSpc>
                <a:spcPts val="3564"/>
              </a:lnSpc>
              <a:buFont typeface="Arial"/>
              <a:buChar char="•"/>
            </a:pPr>
            <a:r>
              <a:rPr lang="en-US" sz="25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symbols: </a:t>
            </a:r>
            <a:r>
              <a:rPr lang="en-US" sz="25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Master data of all supported companies and sectors.</a:t>
            </a:r>
          </a:p>
          <a:p>
            <a:pPr algn="just">
              <a:lnSpc>
                <a:spcPts val="3564"/>
              </a:lnSpc>
            </a:pPr>
            <a:endParaRPr lang="en-US" sz="254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9732" lvl="1" indent="-274866" algn="just">
              <a:lnSpc>
                <a:spcPts val="3564"/>
              </a:lnSpc>
              <a:buFont typeface="Arial"/>
              <a:buChar char="•"/>
            </a:pPr>
            <a:r>
              <a:rPr lang="en-US" sz="25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fundamentals:</a:t>
            </a:r>
            <a:r>
              <a:rPr lang="en-US" sz="25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Core financial metrics (PE, Market Cap, Debt, EBITDA, Promoter Holding).</a:t>
            </a:r>
          </a:p>
          <a:p>
            <a:pPr algn="just">
              <a:lnSpc>
                <a:spcPts val="3564"/>
              </a:lnSpc>
            </a:pPr>
            <a:endParaRPr lang="en-US" sz="254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9732" lvl="1" indent="-274866" algn="just">
              <a:lnSpc>
                <a:spcPts val="3564"/>
              </a:lnSpc>
              <a:buFont typeface="Arial"/>
              <a:buChar char="•"/>
            </a:pPr>
            <a:r>
              <a:rPr lang="en-US" sz="25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historical_metrics:</a:t>
            </a:r>
            <a:r>
              <a:rPr lang="en-US" sz="25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Data for time-series and quarter-based analysis.</a:t>
            </a:r>
          </a:p>
          <a:p>
            <a:pPr algn="just">
              <a:lnSpc>
                <a:spcPts val="3564"/>
              </a:lnSpc>
            </a:pPr>
            <a:endParaRPr lang="en-US" sz="254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9732" lvl="1" indent="-274866" algn="just">
              <a:lnSpc>
                <a:spcPts val="3564"/>
              </a:lnSpc>
              <a:buFont typeface="Arial"/>
              <a:buChar char="•"/>
            </a:pPr>
            <a:r>
              <a:rPr lang="en-US" sz="25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portfolio: </a:t>
            </a:r>
            <a:r>
              <a:rPr lang="en-US" sz="25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Tracks user_id, symbol, quantity, and buy_price.</a:t>
            </a:r>
          </a:p>
          <a:p>
            <a:pPr algn="just">
              <a:lnSpc>
                <a:spcPts val="3564"/>
              </a:lnSpc>
            </a:pPr>
            <a:endParaRPr lang="en-US" sz="254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49732" lvl="1" indent="-274866" algn="just">
              <a:lnSpc>
                <a:spcPts val="3564"/>
              </a:lnSpc>
              <a:buFont typeface="Arial"/>
              <a:buChar char="•"/>
            </a:pPr>
            <a:r>
              <a:rPr lang="en-US" sz="254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alerts:</a:t>
            </a:r>
            <a:r>
              <a:rPr lang="en-US" sz="25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Stores active trigger conditions mapped to specific users.</a:t>
            </a:r>
          </a:p>
          <a:p>
            <a:pPr algn="just">
              <a:lnSpc>
                <a:spcPts val="3564"/>
              </a:lnSpc>
              <a:spcBef>
                <a:spcPct val="0"/>
              </a:spcBef>
            </a:pPr>
            <a:endParaRPr lang="en-US" sz="254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8854" y="2320586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98854" y="2946994"/>
            <a:ext cx="6075089" cy="163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479"/>
              </a:lnSpc>
              <a:spcBef>
                <a:spcPct val="0"/>
              </a:spcBef>
            </a:pPr>
            <a:r>
              <a:rPr lang="en-US" sz="8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Advanced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8854" y="3962117"/>
            <a:ext cx="4982904" cy="163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479"/>
              </a:lnSpc>
              <a:spcBef>
                <a:spcPct val="0"/>
              </a:spcBef>
            </a:pPr>
            <a:r>
              <a:rPr lang="en-US" sz="81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26517" y="1951814"/>
            <a:ext cx="906811" cy="879551"/>
            <a:chOff x="0" y="0"/>
            <a:chExt cx="1049086" cy="10175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37567" y="1741817"/>
            <a:ext cx="611114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Computed Values &amp; Growth Calculations: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37567" y="2902876"/>
            <a:ext cx="6821733" cy="1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Dynamically calculates YoY growth and quarter-on-quarter trends instead of storing static values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7567" y="4766965"/>
            <a:ext cx="662616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Query-Based Filtering: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7567" y="5532216"/>
            <a:ext cx="6460753" cy="1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Complex logical operations (AND/OR) applied simultaneously across multiple financial parameters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37567" y="7334922"/>
            <a:ext cx="61111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Trend Logic Implementation: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37567" y="8096922"/>
            <a:ext cx="6460753" cy="1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Evaluating historical data to identify upward or downward market trajectories.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26517" y="4674852"/>
            <a:ext cx="906811" cy="879551"/>
            <a:chOff x="0" y="0"/>
            <a:chExt cx="1049086" cy="10175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26517" y="7242808"/>
            <a:ext cx="906811" cy="879551"/>
            <a:chOff x="0" y="0"/>
            <a:chExt cx="1049086" cy="10175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310147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037810"/>
            <a:ext cx="6794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Portfolio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003829"/>
            <a:ext cx="636309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Alerts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798" y="2914110"/>
            <a:ext cx="9729427" cy="665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435" lvl="1" indent="-291718" algn="l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Portfolio Logic: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Implements "Average Buy Price" algorithms to seamlessly merge duplicate stock entries, ensuring accurate investment tracking.</a:t>
            </a:r>
          </a:p>
          <a:p>
            <a:pPr algn="l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l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Profit/Loss Calculation: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Dynamically derives Current Value, P&amp;L, and Profit Percentages on the fly.</a:t>
            </a:r>
          </a:p>
          <a:p>
            <a:pPr algn="l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l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Alerts Logic: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Compares user-defined target thresholds against live database values.</a:t>
            </a:r>
          </a:p>
          <a:p>
            <a:pPr algn="l">
              <a:lnSpc>
                <a:spcPts val="3783"/>
              </a:lnSpc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3435" lvl="1" indent="-291718" algn="l">
              <a:lnSpc>
                <a:spcPts val="3783"/>
              </a:lnSpc>
              <a:buFont typeface="Arial"/>
              <a:buChar char="•"/>
            </a:pPr>
            <a:r>
              <a:rPr lang="en-US" sz="270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Anti-Spam Mechanism: </a:t>
            </a:r>
            <a:r>
              <a:rPr lang="en-US" sz="27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Auto-deletes alerts immediately after triggering to prevent system overload and user spam.</a:t>
            </a:r>
          </a:p>
          <a:p>
            <a:pPr algn="just">
              <a:lnSpc>
                <a:spcPts val="3783"/>
              </a:lnSpc>
              <a:spcBef>
                <a:spcPct val="0"/>
              </a:spcBef>
            </a:pPr>
            <a:endParaRPr lang="en-US" sz="27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41105" y="4144095"/>
            <a:ext cx="5152308" cy="515230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57225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5173" y="2962823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548239" y="2962823"/>
            <a:ext cx="873832" cy="87383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48239" y="4875838"/>
            <a:ext cx="873832" cy="87383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48239" y="7274619"/>
            <a:ext cx="873832" cy="87383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35173" y="3848450"/>
            <a:ext cx="7245146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Performance &amp;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5173" y="4863573"/>
            <a:ext cx="6994427" cy="12682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Optimization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58055" y="2886623"/>
            <a:ext cx="6357895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9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Database Indexing:</a:t>
            </a:r>
            <a:r>
              <a:rPr lang="en-US" sz="299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Strategic indexes on high-frequency query columns for rapid lookups.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58055" y="4736847"/>
            <a:ext cx="6601245" cy="211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  <a:spcBef>
                <a:spcPct val="0"/>
              </a:spcBef>
            </a:pPr>
            <a:r>
              <a:rPr lang="en-US" sz="2902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Query Optimization:</a:t>
            </a: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Parameterized queries ensure security while maintaining sub-millisecond execution times.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58055" y="7141269"/>
            <a:ext cx="6357895" cy="211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  <a:spcBef>
                <a:spcPct val="0"/>
              </a:spcBef>
            </a:pPr>
            <a:r>
              <a:rPr lang="en-US" sz="2902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Caching Strategies: </a:t>
            </a: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Implemented state management in Streamlit to cache session data and reduce redundant backend API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24788" y="1028700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194203" y="3702126"/>
            <a:ext cx="5782521" cy="2689074"/>
            <a:chOff x="0" y="0"/>
            <a:chExt cx="1522969" cy="7082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2969" cy="708234"/>
            </a:xfrm>
            <a:custGeom>
              <a:avLst/>
              <a:gdLst/>
              <a:ahLst/>
              <a:cxnLst/>
              <a:rect l="l" t="t" r="r" b="b"/>
              <a:pathLst>
                <a:path w="1522969" h="708234">
                  <a:moveTo>
                    <a:pt x="64265" y="0"/>
                  </a:moveTo>
                  <a:lnTo>
                    <a:pt x="1458704" y="0"/>
                  </a:lnTo>
                  <a:cubicBezTo>
                    <a:pt x="1475748" y="0"/>
                    <a:pt x="1492094" y="6771"/>
                    <a:pt x="1504146" y="18823"/>
                  </a:cubicBezTo>
                  <a:cubicBezTo>
                    <a:pt x="1516198" y="30875"/>
                    <a:pt x="1522969" y="47221"/>
                    <a:pt x="1522969" y="64265"/>
                  </a:cubicBezTo>
                  <a:lnTo>
                    <a:pt x="1522969" y="643969"/>
                  </a:lnTo>
                  <a:cubicBezTo>
                    <a:pt x="1522969" y="661013"/>
                    <a:pt x="1516198" y="677359"/>
                    <a:pt x="1504146" y="689411"/>
                  </a:cubicBezTo>
                  <a:cubicBezTo>
                    <a:pt x="1492094" y="701463"/>
                    <a:pt x="1475748" y="708234"/>
                    <a:pt x="1458704" y="708234"/>
                  </a:cubicBezTo>
                  <a:lnTo>
                    <a:pt x="64265" y="708234"/>
                  </a:lnTo>
                  <a:cubicBezTo>
                    <a:pt x="47221" y="708234"/>
                    <a:pt x="30875" y="701463"/>
                    <a:pt x="18823" y="689411"/>
                  </a:cubicBezTo>
                  <a:cubicBezTo>
                    <a:pt x="6771" y="677359"/>
                    <a:pt x="0" y="661013"/>
                    <a:pt x="0" y="643969"/>
                  </a:cubicBezTo>
                  <a:lnTo>
                    <a:pt x="0" y="64265"/>
                  </a:lnTo>
                  <a:cubicBezTo>
                    <a:pt x="0" y="47221"/>
                    <a:pt x="6771" y="30875"/>
                    <a:pt x="18823" y="18823"/>
                  </a:cubicBezTo>
                  <a:cubicBezTo>
                    <a:pt x="30875" y="6771"/>
                    <a:pt x="47221" y="0"/>
                    <a:pt x="64265" y="0"/>
                  </a:cubicBezTo>
                  <a:close/>
                </a:path>
              </a:pathLst>
            </a:custGeom>
            <a:ln w="57150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522969" cy="813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18192" y="3704058"/>
            <a:ext cx="5959503" cy="2689074"/>
            <a:chOff x="0" y="0"/>
            <a:chExt cx="1569581" cy="7082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69581" cy="708234"/>
            </a:xfrm>
            <a:custGeom>
              <a:avLst/>
              <a:gdLst/>
              <a:ahLst/>
              <a:cxnLst/>
              <a:rect l="l" t="t" r="r" b="b"/>
              <a:pathLst>
                <a:path w="1569581" h="708234">
                  <a:moveTo>
                    <a:pt x="62356" y="0"/>
                  </a:moveTo>
                  <a:lnTo>
                    <a:pt x="1507225" y="0"/>
                  </a:lnTo>
                  <a:cubicBezTo>
                    <a:pt x="1541663" y="0"/>
                    <a:pt x="1569581" y="27918"/>
                    <a:pt x="1569581" y="62356"/>
                  </a:cubicBezTo>
                  <a:lnTo>
                    <a:pt x="1569581" y="645877"/>
                  </a:lnTo>
                  <a:cubicBezTo>
                    <a:pt x="1569581" y="662415"/>
                    <a:pt x="1563011" y="678276"/>
                    <a:pt x="1551317" y="689970"/>
                  </a:cubicBezTo>
                  <a:cubicBezTo>
                    <a:pt x="1539623" y="701664"/>
                    <a:pt x="1523763" y="708234"/>
                    <a:pt x="1507225" y="708234"/>
                  </a:cubicBezTo>
                  <a:lnTo>
                    <a:pt x="62356" y="708234"/>
                  </a:lnTo>
                  <a:cubicBezTo>
                    <a:pt x="45818" y="708234"/>
                    <a:pt x="29958" y="701664"/>
                    <a:pt x="18264" y="689970"/>
                  </a:cubicBezTo>
                  <a:cubicBezTo>
                    <a:pt x="6570" y="678276"/>
                    <a:pt x="0" y="662415"/>
                    <a:pt x="0" y="645877"/>
                  </a:cubicBezTo>
                  <a:lnTo>
                    <a:pt x="0" y="62356"/>
                  </a:lnTo>
                  <a:cubicBezTo>
                    <a:pt x="0" y="45818"/>
                    <a:pt x="6570" y="29958"/>
                    <a:pt x="18264" y="18264"/>
                  </a:cubicBezTo>
                  <a:cubicBezTo>
                    <a:pt x="29958" y="6570"/>
                    <a:pt x="45818" y="0"/>
                    <a:pt x="62356" y="0"/>
                  </a:cubicBezTo>
                  <a:close/>
                </a:path>
              </a:pathLst>
            </a:custGeom>
            <a:ln w="57150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569581" cy="813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684124" y="6759545"/>
            <a:ext cx="5640577" cy="3148468"/>
          </a:xfrm>
          <a:custGeom>
            <a:avLst/>
            <a:gdLst/>
            <a:ahLst/>
            <a:cxnLst/>
            <a:rect l="l" t="t" r="r" b="b"/>
            <a:pathLst>
              <a:path w="5640577" h="3148468">
                <a:moveTo>
                  <a:pt x="0" y="0"/>
                </a:moveTo>
                <a:lnTo>
                  <a:pt x="5640577" y="0"/>
                </a:lnTo>
                <a:lnTo>
                  <a:pt x="5640577" y="3148468"/>
                </a:lnTo>
                <a:lnTo>
                  <a:pt x="0" y="3148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36847" y="7831528"/>
            <a:ext cx="4561635" cy="2546222"/>
          </a:xfrm>
          <a:custGeom>
            <a:avLst/>
            <a:gdLst/>
            <a:ahLst/>
            <a:cxnLst/>
            <a:rect l="l" t="t" r="r" b="b"/>
            <a:pathLst>
              <a:path w="4561635" h="2546222">
                <a:moveTo>
                  <a:pt x="0" y="0"/>
                </a:moveTo>
                <a:lnTo>
                  <a:pt x="4561635" y="0"/>
                </a:lnTo>
                <a:lnTo>
                  <a:pt x="4561635" y="2546222"/>
                </a:lnTo>
                <a:lnTo>
                  <a:pt x="0" y="2546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24788" y="1842818"/>
            <a:ext cx="4751937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Testing &amp;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69944" y="1842818"/>
            <a:ext cx="636309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Reliability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56453" y="3898584"/>
            <a:ext cx="4613491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Unit &amp; API Testing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67124" y="4480244"/>
            <a:ext cx="4992150" cy="130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  <a:spcBef>
                <a:spcPct val="0"/>
              </a:spcBef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Verified all FastAPI endpoints (GET, POST, DELETE) for accurate JSON responses and data integrity.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9349" y="3898584"/>
            <a:ext cx="4835778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Error Handling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89349" y="4325304"/>
            <a:ext cx="5235500" cy="161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3"/>
              </a:lnSpc>
              <a:spcBef>
                <a:spcPct val="0"/>
              </a:spcBef>
            </a:pPr>
            <a:r>
              <a:rPr lang="en-US" sz="22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Global Exception Handlers catch Pydantic validation errors (422) and database failures gracefully without exposing stack traces.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134701" y="6745557"/>
            <a:ext cx="6191791" cy="2689074"/>
            <a:chOff x="0" y="0"/>
            <a:chExt cx="1630760" cy="7082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30760" cy="708234"/>
            </a:xfrm>
            <a:custGeom>
              <a:avLst/>
              <a:gdLst/>
              <a:ahLst/>
              <a:cxnLst/>
              <a:rect l="l" t="t" r="r" b="b"/>
              <a:pathLst>
                <a:path w="1630760" h="708234">
                  <a:moveTo>
                    <a:pt x="60017" y="0"/>
                  </a:moveTo>
                  <a:lnTo>
                    <a:pt x="1570743" y="0"/>
                  </a:lnTo>
                  <a:cubicBezTo>
                    <a:pt x="1586660" y="0"/>
                    <a:pt x="1601926" y="6323"/>
                    <a:pt x="1613181" y="17579"/>
                  </a:cubicBezTo>
                  <a:cubicBezTo>
                    <a:pt x="1624437" y="28834"/>
                    <a:pt x="1630760" y="44099"/>
                    <a:pt x="1630760" y="60017"/>
                  </a:cubicBezTo>
                  <a:lnTo>
                    <a:pt x="1630760" y="648217"/>
                  </a:lnTo>
                  <a:cubicBezTo>
                    <a:pt x="1630760" y="664134"/>
                    <a:pt x="1624437" y="679400"/>
                    <a:pt x="1613181" y="690655"/>
                  </a:cubicBezTo>
                  <a:cubicBezTo>
                    <a:pt x="1601926" y="701910"/>
                    <a:pt x="1586660" y="708234"/>
                    <a:pt x="1570743" y="708234"/>
                  </a:cubicBezTo>
                  <a:lnTo>
                    <a:pt x="60017" y="708234"/>
                  </a:lnTo>
                  <a:cubicBezTo>
                    <a:pt x="44099" y="708234"/>
                    <a:pt x="28834" y="701910"/>
                    <a:pt x="17579" y="690655"/>
                  </a:cubicBezTo>
                  <a:cubicBezTo>
                    <a:pt x="6323" y="679400"/>
                    <a:pt x="0" y="664134"/>
                    <a:pt x="0" y="648217"/>
                  </a:cubicBezTo>
                  <a:lnTo>
                    <a:pt x="0" y="60017"/>
                  </a:lnTo>
                  <a:cubicBezTo>
                    <a:pt x="0" y="44099"/>
                    <a:pt x="6323" y="28834"/>
                    <a:pt x="17579" y="17579"/>
                  </a:cubicBezTo>
                  <a:cubicBezTo>
                    <a:pt x="28834" y="6323"/>
                    <a:pt x="44099" y="0"/>
                    <a:pt x="60017" y="0"/>
                  </a:cubicBezTo>
                  <a:close/>
                </a:path>
              </a:pathLst>
            </a:custGeom>
            <a:ln w="57150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1630760" cy="813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26111" y="6875848"/>
            <a:ext cx="4835778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Stability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8369" y="7448619"/>
            <a:ext cx="5093124" cy="165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Strict input validation prevents crashes from empty queries or unusual inputs, ensuring consistent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6529" y="1737381"/>
            <a:ext cx="8432708" cy="4002993"/>
          </a:xfrm>
          <a:custGeom>
            <a:avLst/>
            <a:gdLst/>
            <a:ahLst/>
            <a:cxnLst/>
            <a:rect l="l" t="t" r="r" b="b"/>
            <a:pathLst>
              <a:path w="8432708" h="4002993">
                <a:moveTo>
                  <a:pt x="0" y="0"/>
                </a:moveTo>
                <a:lnTo>
                  <a:pt x="8432707" y="0"/>
                </a:lnTo>
                <a:lnTo>
                  <a:pt x="8432707" y="4002993"/>
                </a:lnTo>
                <a:lnTo>
                  <a:pt x="0" y="4002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9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1737381"/>
            <a:ext cx="8447189" cy="4002993"/>
          </a:xfrm>
          <a:custGeom>
            <a:avLst/>
            <a:gdLst/>
            <a:ahLst/>
            <a:cxnLst/>
            <a:rect l="l" t="t" r="r" b="b"/>
            <a:pathLst>
              <a:path w="8447189" h="4002993">
                <a:moveTo>
                  <a:pt x="0" y="0"/>
                </a:moveTo>
                <a:lnTo>
                  <a:pt x="8447189" y="0"/>
                </a:lnTo>
                <a:lnTo>
                  <a:pt x="8447189" y="4002993"/>
                </a:lnTo>
                <a:lnTo>
                  <a:pt x="0" y="4002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2" r="-2485" b="-55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30981" y="6006460"/>
            <a:ext cx="8626038" cy="4021890"/>
          </a:xfrm>
          <a:custGeom>
            <a:avLst/>
            <a:gdLst/>
            <a:ahLst/>
            <a:cxnLst/>
            <a:rect l="l" t="t" r="r" b="b"/>
            <a:pathLst>
              <a:path w="8626038" h="4021890">
                <a:moveTo>
                  <a:pt x="0" y="0"/>
                </a:moveTo>
                <a:lnTo>
                  <a:pt x="8626038" y="0"/>
                </a:lnTo>
                <a:lnTo>
                  <a:pt x="8626038" y="4021891"/>
                </a:lnTo>
                <a:lnTo>
                  <a:pt x="0" y="402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92882" y="95250"/>
            <a:ext cx="6075089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36096" y="95250"/>
            <a:ext cx="8572129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1217" y="3835364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06417" y="4496512"/>
            <a:ext cx="6451175" cy="10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Challenges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6417" y="5295341"/>
            <a:ext cx="8115300" cy="113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80"/>
              </a:lnSpc>
              <a:spcBef>
                <a:spcPct val="0"/>
              </a:spcBef>
            </a:pPr>
            <a:r>
              <a:rPr lang="en-US" sz="57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Improvements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26517" y="2089480"/>
            <a:ext cx="906811" cy="879551"/>
            <a:chOff x="0" y="0"/>
            <a:chExt cx="1049086" cy="10175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37567" y="1938705"/>
            <a:ext cx="61111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 Faced: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37567" y="2395905"/>
            <a:ext cx="7124433" cy="2006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8"/>
              </a:lnSpc>
              <a:spcBef>
                <a:spcPct val="0"/>
              </a:spcBef>
            </a:pPr>
            <a:r>
              <a:rPr lang="en-US" sz="274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Managing LLM inconsistencies/hallucinations, handling SQL compilation complexity, and resolving integration issues between UI and Backend.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7567" y="4766965"/>
            <a:ext cx="662616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Scope: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7848" y="5224165"/>
            <a:ext cx="6460753" cy="1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Integrating Real-Time Market APIs (e.g., NSE/BSE live feeds) for live data updates.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37567" y="7334922"/>
            <a:ext cx="61111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8"/>
              </a:lnSpc>
            </a:pPr>
            <a:r>
              <a:rPr lang="en-US" sz="31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Enhancements: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37567" y="7792122"/>
            <a:ext cx="6460753" cy="160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Implementing advanced technical metrics (RSI, MACD) and upgrading to a more sophisticated UI.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26517" y="4787588"/>
            <a:ext cx="906811" cy="879551"/>
            <a:chOff x="0" y="0"/>
            <a:chExt cx="1049086" cy="10175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26517" y="7485696"/>
            <a:ext cx="906811" cy="879551"/>
            <a:chOff x="0" y="0"/>
            <a:chExt cx="1049086" cy="10175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9086" cy="1017549"/>
            </a:xfrm>
            <a:custGeom>
              <a:avLst/>
              <a:gdLst/>
              <a:ahLst/>
              <a:cxnLst/>
              <a:rect l="l" t="t" r="r" b="b"/>
              <a:pathLst>
                <a:path w="1049086" h="1017549">
                  <a:moveTo>
                    <a:pt x="524543" y="0"/>
                  </a:moveTo>
                  <a:cubicBezTo>
                    <a:pt x="234846" y="0"/>
                    <a:pt x="0" y="227786"/>
                    <a:pt x="0" y="508775"/>
                  </a:cubicBezTo>
                  <a:cubicBezTo>
                    <a:pt x="0" y="789763"/>
                    <a:pt x="234846" y="1017549"/>
                    <a:pt x="524543" y="1017549"/>
                  </a:cubicBezTo>
                  <a:cubicBezTo>
                    <a:pt x="814240" y="1017549"/>
                    <a:pt x="1049086" y="789763"/>
                    <a:pt x="1049086" y="508775"/>
                  </a:cubicBezTo>
                  <a:cubicBezTo>
                    <a:pt x="1049086" y="227786"/>
                    <a:pt x="814240" y="0"/>
                    <a:pt x="524543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352" y="38245"/>
              <a:ext cx="852383" cy="88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17179" y="1205256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62451" y="1473221"/>
            <a:ext cx="6363098" cy="185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19"/>
              </a:lnSpc>
              <a:spcBef>
                <a:spcPct val="0"/>
              </a:spcBef>
            </a:pPr>
            <a:r>
              <a:rPr lang="en-US" sz="92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60875" y="3548563"/>
            <a:ext cx="12475968" cy="5199585"/>
            <a:chOff x="0" y="0"/>
            <a:chExt cx="3285852" cy="1369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85852" cy="1369438"/>
            </a:xfrm>
            <a:custGeom>
              <a:avLst/>
              <a:gdLst/>
              <a:ahLst/>
              <a:cxnLst/>
              <a:rect l="l" t="t" r="r" b="b"/>
              <a:pathLst>
                <a:path w="3285852" h="1369438">
                  <a:moveTo>
                    <a:pt x="29786" y="0"/>
                  </a:moveTo>
                  <a:lnTo>
                    <a:pt x="3256066" y="0"/>
                  </a:lnTo>
                  <a:cubicBezTo>
                    <a:pt x="3263965" y="0"/>
                    <a:pt x="3271541" y="3138"/>
                    <a:pt x="3277127" y="8724"/>
                  </a:cubicBezTo>
                  <a:cubicBezTo>
                    <a:pt x="3282714" y="14310"/>
                    <a:pt x="3285852" y="21886"/>
                    <a:pt x="3285852" y="29786"/>
                  </a:cubicBezTo>
                  <a:lnTo>
                    <a:pt x="3285852" y="1339652"/>
                  </a:lnTo>
                  <a:cubicBezTo>
                    <a:pt x="3285852" y="1356102"/>
                    <a:pt x="3272516" y="1369438"/>
                    <a:pt x="3256066" y="1369438"/>
                  </a:cubicBezTo>
                  <a:lnTo>
                    <a:pt x="29786" y="1369438"/>
                  </a:lnTo>
                  <a:cubicBezTo>
                    <a:pt x="13336" y="1369438"/>
                    <a:pt x="0" y="1356102"/>
                    <a:pt x="0" y="1339652"/>
                  </a:cubicBezTo>
                  <a:lnTo>
                    <a:pt x="0" y="29786"/>
                  </a:lnTo>
                  <a:cubicBezTo>
                    <a:pt x="0" y="13336"/>
                    <a:pt x="13336" y="0"/>
                    <a:pt x="29786" y="0"/>
                  </a:cubicBezTo>
                  <a:close/>
                </a:path>
              </a:pathLst>
            </a:custGeom>
            <a:ln w="104775" cap="rnd">
              <a:solidFill>
                <a:srgbClr val="5096B3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285852" cy="145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82193" y="3966658"/>
            <a:ext cx="11723614" cy="478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04" lvl="1" indent="-324102" algn="just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built a highly stable, end-to-end integrated system demonstrating the power of AI in financial analytics.</a:t>
            </a:r>
          </a:p>
          <a:p>
            <a:pPr algn="just">
              <a:lnSpc>
                <a:spcPts val="4203"/>
              </a:lnSpc>
            </a:pPr>
            <a:endParaRPr lang="en-US" sz="30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8204" lvl="1" indent="-324102" algn="just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Bridged the gap between complex financial databases and natural language querying.</a:t>
            </a:r>
          </a:p>
          <a:p>
            <a:pPr algn="just">
              <a:lnSpc>
                <a:spcPts val="4203"/>
              </a:lnSpc>
            </a:pPr>
            <a:endParaRPr lang="en-US" sz="30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8204" lvl="1" indent="-324102" algn="just">
              <a:lnSpc>
                <a:spcPts val="4203"/>
              </a:lnSpc>
              <a:spcBef>
                <a:spcPct val="0"/>
              </a:spcBef>
              <a:buFont typeface="Arial"/>
              <a:buChar char="•"/>
            </a:pPr>
            <a:r>
              <a:rPr lang="en-US" sz="30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 is fully functional, crash-resistant, and ready for further scaling.</a:t>
            </a:r>
          </a:p>
          <a:p>
            <a:pPr algn="just">
              <a:lnSpc>
                <a:spcPts val="4203"/>
              </a:lnSpc>
              <a:spcBef>
                <a:spcPct val="0"/>
              </a:spcBef>
            </a:pPr>
            <a:endParaRPr lang="en-US" sz="300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8267" y="3362325"/>
            <a:ext cx="5657850" cy="56578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315156" y="3149586"/>
            <a:ext cx="1023221" cy="799973"/>
          </a:xfrm>
          <a:custGeom>
            <a:avLst/>
            <a:gdLst/>
            <a:ahLst/>
            <a:cxnLst/>
            <a:rect l="l" t="t" r="r" b="b"/>
            <a:pathLst>
              <a:path w="1023221" h="799973">
                <a:moveTo>
                  <a:pt x="0" y="0"/>
                </a:moveTo>
                <a:lnTo>
                  <a:pt x="1023221" y="0"/>
                </a:lnTo>
                <a:lnTo>
                  <a:pt x="1023221" y="799973"/>
                </a:lnTo>
                <a:lnTo>
                  <a:pt x="0" y="799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15156" y="3785975"/>
            <a:ext cx="10475320" cy="251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694"/>
              </a:lnSpc>
              <a:spcBef>
                <a:spcPct val="0"/>
              </a:spcBef>
            </a:pPr>
            <a:r>
              <a:rPr lang="en-US" sz="12638" b="1" i="1">
                <a:solidFill>
                  <a:srgbClr val="FFFFFF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Microsoft Office PowerPoint</Application>
  <PresentationFormat>Custom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Agrandir</vt:lpstr>
      <vt:lpstr>Arial</vt:lpstr>
      <vt:lpstr>Canva Sans Bold</vt:lpstr>
      <vt:lpstr>Agrandir Bold Italics</vt:lpstr>
      <vt:lpstr>Canva Sans</vt:lpstr>
      <vt:lpstr>Calibri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Brand Marketing Presentation</dc:title>
  <cp:lastModifiedBy>Sneha Latha Navakoti</cp:lastModifiedBy>
  <cp:revision>2</cp:revision>
  <dcterms:created xsi:type="dcterms:W3CDTF">2006-08-16T00:00:00Z</dcterms:created>
  <dcterms:modified xsi:type="dcterms:W3CDTF">2026-03-31T14:26:13Z</dcterms:modified>
  <dc:identifier>DAHFb4tY06Q</dc:identifier>
</cp:coreProperties>
</file>